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7" r:id="rId5"/>
    <p:sldId id="263" r:id="rId6"/>
    <p:sldId id="260" r:id="rId7"/>
    <p:sldId id="264" r:id="rId8"/>
    <p:sldId id="268" r:id="rId9"/>
    <p:sldId id="269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2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9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937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01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15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51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2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37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66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30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79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71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8A2AF0C-947B-4936-A60A-3BA44831DD97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159B4A7-EF65-4368-B463-C9C85FC308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01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3D217-A388-4EFC-F04F-9B624399F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9793" y="48126"/>
            <a:ext cx="9418320" cy="2412332"/>
          </a:xfrm>
        </p:spPr>
        <p:txBody>
          <a:bodyPr/>
          <a:lstStyle/>
          <a:p>
            <a:r>
              <a:rPr lang="ru-RU" dirty="0"/>
              <a:t>Предсказание цены сборки ПК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D036A0-201F-3E4C-D53E-7D181E71F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6574" y="3133516"/>
            <a:ext cx="6384758" cy="1324895"/>
          </a:xfrm>
        </p:spPr>
        <p:txBody>
          <a:bodyPr>
            <a:normAutofit/>
          </a:bodyPr>
          <a:lstStyle/>
          <a:p>
            <a:r>
              <a:rPr lang="ru-RU" dirty="0"/>
              <a:t>Работу выполнили студенты 4 курса физико-математического института группы РФЗ-2: Красников А. А., Швалев В. А.</a:t>
            </a:r>
          </a:p>
        </p:txBody>
      </p:sp>
    </p:spTree>
    <p:extLst>
      <p:ext uri="{BB962C8B-B14F-4D97-AF65-F5344CB8AC3E}">
        <p14:creationId xmlns:p14="http://schemas.microsoft.com/office/powerpoint/2010/main" val="90103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946CD-D6A4-493A-5E0F-507CC12D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900" dirty="0"/>
              <a:t>Постановка задачи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D4EDA4-D847-F319-5A52-0AE9E6CA5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Цель:</a:t>
            </a:r>
            <a:r>
              <a:rPr lang="ru-RU" sz="2000" dirty="0"/>
              <a:t> По характеристикам компонентов (процессор, видеокарта, ОЗУ и т.д.) предсказать итоговую стоимость готовой сборки ПК </a:t>
            </a:r>
          </a:p>
          <a:p>
            <a:r>
              <a:rPr lang="ru-RU" sz="2000" b="1" dirty="0"/>
              <a:t>Тип задачи:</a:t>
            </a:r>
            <a:r>
              <a:rPr lang="ru-RU" sz="2000" dirty="0"/>
              <a:t> </a:t>
            </a:r>
            <a:r>
              <a:rPr lang="ru-RU" sz="2000" b="1" dirty="0"/>
              <a:t>Регрессия</a:t>
            </a:r>
          </a:p>
          <a:p>
            <a:r>
              <a:rPr lang="ru-RU" sz="2000" b="1" dirty="0"/>
              <a:t>Целевая переменная:</a:t>
            </a:r>
            <a:r>
              <a:rPr lang="ru-RU" sz="2000" dirty="0"/>
              <a:t> </a:t>
            </a:r>
            <a:r>
              <a:rPr lang="ru-RU" sz="2000" dirty="0" err="1"/>
              <a:t>Build_Price_RUB</a:t>
            </a:r>
            <a:r>
              <a:rPr lang="ru-RU" sz="2000" dirty="0"/>
              <a:t> (стоимость сборки в рублях)</a:t>
            </a:r>
          </a:p>
          <a:p>
            <a:r>
              <a:rPr lang="ru-RU" sz="2000" b="1" dirty="0"/>
              <a:t>Признаки:</a:t>
            </a:r>
            <a:r>
              <a:rPr lang="ru-RU" sz="2000" dirty="0"/>
              <a:t> Бренды, типы компонентов, частоты, объёмы памяти, количество ядер, чипсеты и другие технические характеристики.</a:t>
            </a:r>
          </a:p>
          <a:p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488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6258D-D80B-F50B-344A-96BAA33A4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sz="4900" dirty="0"/>
              <a:t>Предобработка данных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9F08D1-89A9-5F2A-99E7-2B2062A8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1. Первичный анализ:</a:t>
            </a:r>
            <a:endParaRPr lang="ru-RU" dirty="0"/>
          </a:p>
          <a:p>
            <a:r>
              <a:rPr lang="ru-RU" dirty="0"/>
              <a:t>Датасет содержит 20 000 строк и 40 столбцов.</a:t>
            </a:r>
          </a:p>
          <a:p>
            <a:r>
              <a:rPr lang="ru-RU" dirty="0"/>
              <a:t>Целевая переменная </a:t>
            </a:r>
            <a:r>
              <a:rPr lang="en-US" dirty="0" err="1"/>
              <a:t>Build_Price_RUB</a:t>
            </a:r>
            <a:r>
              <a:rPr lang="en-US" dirty="0"/>
              <a:t> </a:t>
            </a:r>
            <a:r>
              <a:rPr lang="ru-RU" dirty="0"/>
              <a:t>распределена в диапазоне от 61 585 до 427 886 рублей. Средняя цена ≈ 187 500 рублей.</a:t>
            </a:r>
          </a:p>
          <a:p>
            <a:r>
              <a:rPr lang="ru-RU" dirty="0"/>
              <a:t>Ключевые признаки: </a:t>
            </a:r>
            <a:r>
              <a:rPr lang="en-US" dirty="0" err="1"/>
              <a:t>GPU_Tier</a:t>
            </a:r>
            <a:r>
              <a:rPr lang="en-US" dirty="0"/>
              <a:t>, </a:t>
            </a:r>
            <a:r>
              <a:rPr lang="en-US" dirty="0" err="1"/>
              <a:t>RAM_Size_GB</a:t>
            </a:r>
            <a:r>
              <a:rPr lang="en-US" dirty="0"/>
              <a:t>.</a:t>
            </a:r>
          </a:p>
          <a:p>
            <a:r>
              <a:rPr lang="en-US" b="1" dirty="0"/>
              <a:t>2. </a:t>
            </a:r>
            <a:r>
              <a:rPr lang="ru-RU" b="1" dirty="0"/>
              <a:t>Очистка данных:</a:t>
            </a:r>
            <a:endParaRPr lang="ru-RU" dirty="0"/>
          </a:p>
          <a:p>
            <a:r>
              <a:rPr lang="ru-RU" dirty="0"/>
              <a:t>Удалены столбцы с утечкой данных: </a:t>
            </a:r>
            <a:r>
              <a:rPr lang="en-US" dirty="0" err="1"/>
              <a:t>Component_Price</a:t>
            </a:r>
            <a:r>
              <a:rPr lang="en-US" dirty="0"/>
              <a:t>_* (</a:t>
            </a:r>
            <a:r>
              <a:rPr lang="ru-RU" dirty="0"/>
              <a:t>прямые цены компонентов), </a:t>
            </a:r>
            <a:r>
              <a:rPr lang="en-US" dirty="0" err="1"/>
              <a:t>Assembly_Fee</a:t>
            </a:r>
            <a:r>
              <a:rPr lang="en-US" dirty="0"/>
              <a:t>, efficiency.</a:t>
            </a:r>
          </a:p>
          <a:p>
            <a:r>
              <a:rPr lang="ru-RU" dirty="0"/>
              <a:t>Удалены служебные столбцы: </a:t>
            </a:r>
            <a:r>
              <a:rPr lang="en-US" dirty="0" err="1"/>
              <a:t>BuildID</a:t>
            </a:r>
            <a:r>
              <a:rPr lang="en-US" dirty="0"/>
              <a:t>, </a:t>
            </a:r>
            <a:r>
              <a:rPr lang="en-US" dirty="0" err="1"/>
              <a:t>Billing_Type</a:t>
            </a:r>
            <a:r>
              <a:rPr lang="en-US" dirty="0"/>
              <a:t>, </a:t>
            </a:r>
            <a:r>
              <a:rPr lang="en-US" dirty="0" err="1"/>
              <a:t>Build_Notes</a:t>
            </a:r>
            <a:r>
              <a:rPr lang="en-US" dirty="0"/>
              <a:t>, Unnamed.</a:t>
            </a:r>
          </a:p>
          <a:p>
            <a:r>
              <a:rPr lang="en-US" b="1" dirty="0"/>
              <a:t>3. </a:t>
            </a:r>
            <a:r>
              <a:rPr lang="ru-RU" b="1" dirty="0"/>
              <a:t>Подготовка признаков:</a:t>
            </a:r>
            <a:endParaRPr lang="ru-RU" dirty="0"/>
          </a:p>
          <a:p>
            <a:r>
              <a:rPr lang="ru-RU" b="1" dirty="0"/>
              <a:t>Числовые признаки</a:t>
            </a:r>
            <a:r>
              <a:rPr lang="ru-RU" dirty="0"/>
              <a:t> (7): </a:t>
            </a:r>
            <a:r>
              <a:rPr lang="en-US" dirty="0" err="1"/>
              <a:t>GPU_Tier</a:t>
            </a:r>
            <a:r>
              <a:rPr lang="en-US" dirty="0"/>
              <a:t>, </a:t>
            </a:r>
            <a:r>
              <a:rPr lang="en-US" dirty="0" err="1"/>
              <a:t>CPU_Cores</a:t>
            </a:r>
            <a:r>
              <a:rPr lang="en-US" dirty="0"/>
              <a:t>, </a:t>
            </a:r>
            <a:r>
              <a:rPr lang="en-US" dirty="0" err="1"/>
              <a:t>CPU_Threads</a:t>
            </a:r>
            <a:r>
              <a:rPr lang="en-US" dirty="0"/>
              <a:t>, </a:t>
            </a:r>
            <a:r>
              <a:rPr lang="en-US" dirty="0" err="1"/>
              <a:t>PSU_Wattage</a:t>
            </a:r>
            <a:r>
              <a:rPr lang="en-US" dirty="0"/>
              <a:t>, </a:t>
            </a:r>
            <a:r>
              <a:rPr lang="en-US" dirty="0" err="1"/>
              <a:t>Storage_Capacity_GB</a:t>
            </a:r>
            <a:r>
              <a:rPr lang="en-US" dirty="0"/>
              <a:t>, </a:t>
            </a:r>
            <a:r>
              <a:rPr lang="en-US" dirty="0" err="1"/>
              <a:t>RAM_Speed_MHz</a:t>
            </a:r>
            <a:r>
              <a:rPr lang="en-US" dirty="0"/>
              <a:t>, </a:t>
            </a:r>
            <a:r>
              <a:rPr lang="en-US" dirty="0" err="1"/>
              <a:t>RAM_Size_GB</a:t>
            </a:r>
            <a:r>
              <a:rPr lang="en-US" dirty="0"/>
              <a:t>.</a:t>
            </a:r>
          </a:p>
          <a:p>
            <a:r>
              <a:rPr lang="ru-RU" b="1" dirty="0"/>
              <a:t>Категориальные признаки</a:t>
            </a:r>
            <a:r>
              <a:rPr lang="ru-RU" dirty="0"/>
              <a:t> (14): </a:t>
            </a:r>
            <a:r>
              <a:rPr lang="en-US" dirty="0" err="1"/>
              <a:t>PSU_Brand</a:t>
            </a:r>
            <a:r>
              <a:rPr lang="en-US" dirty="0"/>
              <a:t>, </a:t>
            </a:r>
            <a:r>
              <a:rPr lang="en-US" dirty="0" err="1"/>
              <a:t>Cabinet_Brand</a:t>
            </a:r>
            <a:r>
              <a:rPr lang="en-US" dirty="0"/>
              <a:t>, </a:t>
            </a:r>
            <a:r>
              <a:rPr lang="en-US" dirty="0" err="1"/>
              <a:t>GPU_Model</a:t>
            </a:r>
            <a:r>
              <a:rPr lang="en-US" dirty="0"/>
              <a:t> </a:t>
            </a:r>
            <a:r>
              <a:rPr lang="ru-RU" dirty="0"/>
              <a:t>и др.</a:t>
            </a:r>
          </a:p>
          <a:p>
            <a:r>
              <a:rPr lang="ru-RU" dirty="0"/>
              <a:t>Категориальные признаки преобразованы с помощью </a:t>
            </a:r>
            <a:r>
              <a:rPr lang="en-US" dirty="0" err="1"/>
              <a:t>LabelEncoder</a:t>
            </a:r>
            <a:r>
              <a:rPr lang="en-US" dirty="0"/>
              <a:t>.</a:t>
            </a:r>
          </a:p>
          <a:p>
            <a:r>
              <a:rPr lang="ru-RU" dirty="0"/>
              <a:t>Числовые признаки </a:t>
            </a:r>
            <a:r>
              <a:rPr lang="ru-RU" b="1" dirty="0"/>
              <a:t>стандартизированы</a:t>
            </a:r>
            <a:r>
              <a:rPr lang="ru-RU" dirty="0"/>
              <a:t> (</a:t>
            </a:r>
            <a:r>
              <a:rPr lang="en-US" dirty="0" err="1"/>
              <a:t>StandardScaler</a:t>
            </a:r>
            <a:r>
              <a:rPr lang="en-US" dirty="0"/>
              <a:t>) </a:t>
            </a:r>
            <a:r>
              <a:rPr lang="ru-RU" dirty="0"/>
              <a:t>для линейных моделей и </a:t>
            </a:r>
            <a:r>
              <a:rPr lang="en-US" dirty="0"/>
              <a:t>MLP.</a:t>
            </a:r>
          </a:p>
          <a:p>
            <a:r>
              <a:rPr lang="ru-RU" dirty="0"/>
              <a:t>Данные разделены на </a:t>
            </a:r>
            <a:r>
              <a:rPr lang="ru-RU" b="1" dirty="0"/>
              <a:t>обучающую</a:t>
            </a:r>
            <a:r>
              <a:rPr lang="ru-RU" dirty="0"/>
              <a:t> (80%) и </a:t>
            </a:r>
            <a:r>
              <a:rPr lang="ru-RU" b="1" dirty="0"/>
              <a:t>тестовую</a:t>
            </a:r>
            <a:r>
              <a:rPr lang="ru-RU" dirty="0"/>
              <a:t> (20%) выборки.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487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99846-299B-025D-1E79-B3ACB698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Разведочный анализ (</a:t>
            </a:r>
            <a:r>
              <a:rPr lang="en-US" dirty="0"/>
              <a:t>EDA)</a:t>
            </a:r>
            <a:br>
              <a:rPr lang="en-US" dirty="0"/>
            </a:b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F754A7B-BB3A-1411-410D-F90E50C346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1164096"/>
            <a:ext cx="7528166" cy="22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A479D73-0193-0A43-6EEE-D97F88285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929" y="3429000"/>
            <a:ext cx="3796113" cy="302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09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D86F6-CC20-919C-18A6-73F26CFF5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23649"/>
            <a:ext cx="9692640" cy="705051"/>
          </a:xfrm>
        </p:spPr>
        <p:txBody>
          <a:bodyPr/>
          <a:lstStyle/>
          <a:p>
            <a:r>
              <a:rPr lang="ru-RU" dirty="0"/>
              <a:t>Выбор моделей для обучения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F3D6D7-6F0C-5D2D-CEF4-E8A45C45A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3754" y="1269332"/>
            <a:ext cx="3454507" cy="1509963"/>
          </a:xfrm>
        </p:spPr>
        <p:txBody>
          <a:bodyPr/>
          <a:lstStyle/>
          <a:p>
            <a:r>
              <a:rPr lang="ru-RU" dirty="0"/>
              <a:t>Для решения задачи были выбраны 5 моделей, представляющих разные подходы к регрессии:</a:t>
            </a:r>
          </a:p>
        </p:txBody>
      </p:sp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292A9816-B732-F81D-7596-0A01BD15CA5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36083096"/>
              </p:ext>
            </p:extLst>
          </p:nvPr>
        </p:nvGraphicFramePr>
        <p:xfrm>
          <a:off x="4547937" y="1269332"/>
          <a:ext cx="6690309" cy="4794577"/>
        </p:xfrm>
        <a:graphic>
          <a:graphicData uri="http://schemas.openxmlformats.org/drawingml/2006/table">
            <a:tbl>
              <a:tblPr/>
              <a:tblGrid>
                <a:gridCol w="2230103">
                  <a:extLst>
                    <a:ext uri="{9D8B030D-6E8A-4147-A177-3AD203B41FA5}">
                      <a16:colId xmlns:a16="http://schemas.microsoft.com/office/drawing/2014/main" val="2026234836"/>
                    </a:ext>
                  </a:extLst>
                </a:gridCol>
                <a:gridCol w="2230103">
                  <a:extLst>
                    <a:ext uri="{9D8B030D-6E8A-4147-A177-3AD203B41FA5}">
                      <a16:colId xmlns:a16="http://schemas.microsoft.com/office/drawing/2014/main" val="2551168741"/>
                    </a:ext>
                  </a:extLst>
                </a:gridCol>
                <a:gridCol w="2230103">
                  <a:extLst>
                    <a:ext uri="{9D8B030D-6E8A-4147-A177-3AD203B41FA5}">
                      <a16:colId xmlns:a16="http://schemas.microsoft.com/office/drawing/2014/main" val="1542885354"/>
                    </a:ext>
                  </a:extLst>
                </a:gridCol>
              </a:tblGrid>
              <a:tr h="35822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Модель</a:t>
                      </a:r>
                    </a:p>
                  </a:txBody>
                  <a:tcPr marL="75859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Тип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Особенность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141408"/>
                  </a:ext>
                </a:extLst>
              </a:tr>
              <a:tr h="5584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>
                          <a:effectLst/>
                          <a:latin typeface="quote-cjk-patch"/>
                        </a:rPr>
                        <a:t>Linear Regression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75859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Линейная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Базовый алгоритм для сравнения.</a:t>
                      </a:r>
                    </a:p>
                  </a:txBody>
                  <a:tcPr marL="126431" marR="75859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68131"/>
                  </a:ext>
                </a:extLst>
              </a:tr>
              <a:tr h="758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 dirty="0">
                          <a:effectLst/>
                          <a:latin typeface="quote-cjk-patch"/>
                        </a:rPr>
                        <a:t>Ridge Regression</a:t>
                      </a:r>
                      <a:endParaRPr lang="en-US" sz="1500" b="0" dirty="0">
                        <a:effectLst/>
                        <a:latin typeface="quote-cjk-patch"/>
                      </a:endParaRPr>
                    </a:p>
                  </a:txBody>
                  <a:tcPr marL="75859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Линейная с регуляризацией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Улучшает линейную модель за счет L2-штрафа.</a:t>
                      </a:r>
                    </a:p>
                  </a:txBody>
                  <a:tcPr marL="126431" marR="75859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70653"/>
                  </a:ext>
                </a:extLst>
              </a:tr>
              <a:tr h="758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>
                          <a:effectLst/>
                          <a:latin typeface="quote-cjk-patch"/>
                        </a:rPr>
                        <a:t>Random Forest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5859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Ансамбль деревьев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Устойчив к выбросам, не требует масштабирования.</a:t>
                      </a:r>
                    </a:p>
                  </a:txBody>
                  <a:tcPr marL="126431" marR="75859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120946"/>
                  </a:ext>
                </a:extLst>
              </a:tr>
              <a:tr h="75858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>
                          <a:effectLst/>
                          <a:latin typeface="quote-cjk-patch"/>
                        </a:rPr>
                        <a:t>HistGradientBoosting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5859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Градиентный бустинг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Очень эффективен для табличных данных, быстрый.</a:t>
                      </a:r>
                    </a:p>
                  </a:txBody>
                  <a:tcPr marL="126431" marR="75859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341438"/>
                  </a:ext>
                </a:extLst>
              </a:tr>
              <a:tr h="11589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1">
                          <a:effectLst/>
                          <a:latin typeface="quote-cjk-patch"/>
                        </a:rPr>
                        <a:t>MLP Neural Network</a:t>
                      </a:r>
                      <a:endParaRPr lang="en-US" sz="1500" b="0">
                        <a:effectLst/>
                        <a:latin typeface="quote-cjk-patch"/>
                      </a:endParaRPr>
                    </a:p>
                  </a:txBody>
                  <a:tcPr marL="75859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>
                          <a:effectLst/>
                          <a:latin typeface="quote-cjk-patch"/>
                        </a:rPr>
                        <a:t>Нейросеть</a:t>
                      </a:r>
                    </a:p>
                  </a:txBody>
                  <a:tcPr marL="126431" marR="126431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dirty="0">
                          <a:effectLst/>
                          <a:latin typeface="quote-cjk-patch"/>
                        </a:rPr>
                        <a:t>Позволяет моделировать сложные нелинейные зависимости.</a:t>
                      </a:r>
                    </a:p>
                  </a:txBody>
                  <a:tcPr marL="126431" marR="75859" marT="79019" marB="79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949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82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2ACF5-E71E-3989-0CFC-8D765EE6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метрик</a:t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18E51E-8519-86EA-C135-1EA40E33DD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1" y="3628568"/>
            <a:ext cx="8594725" cy="260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AFA27C-D0A1-75F5-7BF2-6038A48ED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2"/>
          <a:stretch>
            <a:fillRect/>
          </a:stretch>
        </p:blipFill>
        <p:spPr>
          <a:xfrm>
            <a:off x="1261871" y="1352260"/>
            <a:ext cx="5472201" cy="2076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041F3-02B4-209A-9E23-BF73A8F33159}"/>
              </a:ext>
            </a:extLst>
          </p:cNvPr>
          <p:cNvSpPr txBox="1"/>
          <p:nvPr/>
        </p:nvSpPr>
        <p:spPr>
          <a:xfrm>
            <a:off x="6823408" y="1352260"/>
            <a:ext cx="3577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Метрики оценки: </a:t>
            </a:r>
            <a:r>
              <a:rPr lang="en-US" dirty="0"/>
              <a:t>MAE (</a:t>
            </a:r>
            <a:r>
              <a:rPr lang="ru-RU" dirty="0"/>
              <a:t>руб.), </a:t>
            </a:r>
            <a:r>
              <a:rPr lang="en-US" dirty="0"/>
              <a:t>RMSE (</a:t>
            </a:r>
            <a:r>
              <a:rPr lang="ru-RU" dirty="0"/>
              <a:t>руб.), </a:t>
            </a:r>
            <a:r>
              <a:rPr lang="en-US" dirty="0"/>
              <a:t>R2, MAPE (%).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909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6DD52-DDA6-04A5-DA35-59B41F19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лучшей</a:t>
            </a:r>
            <a:r>
              <a:rPr lang="en-US" dirty="0"/>
              <a:t> </a:t>
            </a:r>
            <a:r>
              <a:rPr lang="ru-RU" dirty="0"/>
              <a:t>и худшей модели</a:t>
            </a:r>
            <a:br>
              <a:rPr lang="ru-RU" b="1" dirty="0"/>
            </a:b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E877DAD-201A-2883-7A33-D3D4712685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63" y="1691322"/>
            <a:ext cx="5336478" cy="398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E2EC7AB-3EEE-23F3-C74A-2B57CE778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647" y="1691322"/>
            <a:ext cx="5336478" cy="398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031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804D8-7444-D747-00D4-2C4EBE9F1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Детализация ошибок</a:t>
            </a:r>
            <a:br>
              <a:rPr lang="ru-RU" b="1" dirty="0"/>
            </a:b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5E528E8-351F-40F4-8B3F-D7268AD3CC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72" y="1691322"/>
            <a:ext cx="10632456" cy="319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5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411AD-B921-39DE-1F9B-B5971471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примерах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CF7219-2391-B4BB-676E-DE86C3A37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691322"/>
            <a:ext cx="3213875" cy="4351337"/>
          </a:xfrm>
        </p:spPr>
        <p:txBody>
          <a:bodyPr/>
          <a:lstStyle/>
          <a:p>
            <a:r>
              <a:rPr lang="ru-RU" dirty="0"/>
              <a:t>Применение модели HistGradientBoosting для предсказания цены трех гипотетических сборок</a:t>
            </a:r>
            <a:r>
              <a:rPr lang="ru-RU" i="1" dirty="0"/>
              <a:t>:</a:t>
            </a:r>
          </a:p>
          <a:p>
            <a:endParaRPr lang="ru-RU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7B6A8120-55BF-0E44-DEB8-025D89BA7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917" y="1680209"/>
            <a:ext cx="3114675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709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97312-E3B1-D40E-F39B-86DBA40C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E629D-9FFE-56D2-B69D-0FC2BE9E3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результаты проекта:</a:t>
            </a:r>
          </a:p>
          <a:p>
            <a:r>
              <a:rPr lang="ru-RU" b="1" dirty="0"/>
              <a:t>Лучшая модель:</a:t>
            </a:r>
            <a:r>
              <a:rPr lang="ru-RU" dirty="0"/>
              <a:t> HistGradientBoosting показал наилучшие результаты, предсказывая цену сборки со средней ошибкой около 3.2% (MAPE) и R² = 0.984.</a:t>
            </a:r>
          </a:p>
          <a:p>
            <a:r>
              <a:rPr lang="ru-RU" b="1" dirty="0"/>
              <a:t>Ключевые факторы цены:</a:t>
            </a:r>
            <a:r>
              <a:rPr lang="ru-RU" dirty="0"/>
              <a:t> Наиболее важными признаками являются модель</a:t>
            </a:r>
            <a:r>
              <a:rPr lang="ru-RU" b="1" dirty="0"/>
              <a:t> </a:t>
            </a:r>
            <a:r>
              <a:rPr lang="ru-RU" dirty="0"/>
              <a:t>видеокарты и объем оперативной памяти.</a:t>
            </a:r>
          </a:p>
          <a:p>
            <a:r>
              <a:rPr lang="ru-RU" b="1" dirty="0"/>
              <a:t>Практическая применимость:</a:t>
            </a:r>
            <a:r>
              <a:rPr lang="ru-RU" dirty="0"/>
              <a:t> Модель может быть использована для автоматической оценки стоимости сборок, планирования бюджета и анализа рынка компьютерных комплектующих.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09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CFA31-CBD6-6C05-3EA7-6E4A842E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145630-7A6C-296A-3B63-072DAE91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https://www.kaggle.com/datasets/silientboy/custom-pc-price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226126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31</TotalTime>
  <Words>492</Words>
  <Application>Microsoft Office PowerPoint</Application>
  <PresentationFormat>Широкоэкранный</PresentationFormat>
  <Paragraphs>56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Century Schoolbook</vt:lpstr>
      <vt:lpstr>quote-cjk-patch</vt:lpstr>
      <vt:lpstr>Wingdings 2</vt:lpstr>
      <vt:lpstr>Вид</vt:lpstr>
      <vt:lpstr>Предсказание цены сборки ПК</vt:lpstr>
      <vt:lpstr>Постановка задачи </vt:lpstr>
      <vt:lpstr>      Предобработка данных </vt:lpstr>
      <vt:lpstr>Разведочный анализ (EDA) </vt:lpstr>
      <vt:lpstr>Выбор моделей для обучения</vt:lpstr>
      <vt:lpstr>Получение метрик </vt:lpstr>
      <vt:lpstr>Анализ лучшей и худшей модели </vt:lpstr>
      <vt:lpstr>Детализация ошибок </vt:lpstr>
      <vt:lpstr>Проверка на примерах </vt:lpstr>
      <vt:lpstr>Выводы 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Viva La France</dc:creator>
  <cp:lastModifiedBy>Viva La France</cp:lastModifiedBy>
  <cp:revision>1</cp:revision>
  <dcterms:created xsi:type="dcterms:W3CDTF">2026-04-29T18:45:09Z</dcterms:created>
  <dcterms:modified xsi:type="dcterms:W3CDTF">2026-04-29T19:16:44Z</dcterms:modified>
</cp:coreProperties>
</file>